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5.gif" ContentType="image/gif"/>
  <Override PartName="/ppt/media/image3.gif" ContentType="image/gif"/>
  <Override PartName="/ppt/media/image7.gif" ContentType="image/gif"/>
  <Override PartName="/ppt/media/image8.gif" ContentType="image/gi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6858000" cy="9144000"/>
  <p:embeddedFontLst>
    <p:embeddedFont>
      <p:font typeface="Comfortaa"/>
      <p:regular r:id="rId12"/>
      <p:bold r:id="rId13"/>
      <p:italic r:id="rId13"/>
    </p:embeddedFont>
    <p:embeddedFont>
      <p:font typeface="Comfortaa Light"/>
    </p:embeddedFont>
    <p:embeddedFont>
      <p:font typeface="Comfortaa Medium"/>
    </p:embeddedFont>
    <p:embeddedFont>
      <p:font typeface="Lucida Sans"/>
      <p:regular r:id="rId1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font" Target="fonts/Font_1_Comfortaa_Regular.fntdata"/><Relationship Id="rId13" Type="http://schemas.openxmlformats.org/officeDocument/2006/relationships/font" Target="fonts/Font_2_Comfortaa_Bold.fntdata"/><Relationship Id="rId14" Type="http://schemas.openxmlformats.org/officeDocument/2006/relationships/font" Target="fonts/Font_3_Lucida_Sans_Regular.fntdata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70C0C65-BC69-44B2-AC57-06B4817A6E4F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Played with computers.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Broadcast Engineer for 18 years.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Coding Bootcamp for 3 months.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Make Stuff - websites, apps, the diabetes calculator.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Interview and a technical test.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Some people go to uni and study CompSci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you need: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love of problem solving. </a:t>
            </a:r>
            <a:r>
              <a:rPr lang="en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Attention to detail and patterns will help.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Willingness to read and learn, forever. Technology changes so fast, but take it as an opportunity to play with new toys when work will pay for it.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Teamwork. The only job I could think of that doesn’t require teamwork is a writer or an artist.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Communication. Explain complex things in a simple way; don’t treat people like fools even if you are the cleverest person in the room.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you don’t need: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degree, unless you plan on building a physics engine or to work in the sciences. Universities are also a fantastic way to find out more about a subject you love, I would love to go and study a Computer Science degree because I’m curious but not because I need it to do my job.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know everything. No one knows everything.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Neurotypical - there are so many different ways to learn and to code, every one of us does it differently. The best programmer I know, she has ADHD, but she is able to think like lightning when it came to writing code.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office. You can work from home. I get to spend more time with the people I love after travelling all over the country.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GB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2F63D3-1D79-44BA-A914-5C8C8458C24F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GB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GB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n-GB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527B89-D8CF-4C5D-8EEA-2E77298E9AF0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6A3442D-6BAF-42B2-8247-BFA8B9190716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94F147-3C24-4A3E-AC19-9336908B9AAE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437D298-9CA8-4454-8394-9B5FD656140C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61FD727-A9B5-4726-89C0-6877F24E07BA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072E48-8968-4E2E-BA79-8B2816DCAA2A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A820CA-6A09-410F-BB00-6615D2AEC8ED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GB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D919BF-EA72-446B-91A6-44FE08DAA89D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GB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28BB8EF-7FC7-4470-B385-93D09D466C5C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8C2369E-79F3-4C38-B3DC-9641889A1800}" type="slidenum">
              <a:rPr lang="en" sz="1000" b="0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gif"/><Relationship Id="rId3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image" Target="../media/image6.jpeg"/><Relationship Id="rId3" Type="http://schemas.openxmlformats.org/officeDocument/2006/relationships/image" Target="../media/image7.gif"/><Relationship Id="rId4" Type="http://schemas.openxmlformats.org/officeDocument/2006/relationships/image" Target="../media/image8.gif"/><Relationship Id="rId5" Type="http://schemas.openxmlformats.org/officeDocument/2006/relationships/image" Target="../media/image9.jpe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11760" y="1686600"/>
            <a:ext cx="8520120" cy="1770120"/>
          </a:xfrm>
          <a:prstGeom prst="rect">
            <a:avLst/>
          </a:prstGeom>
          <a:solidFill>
            <a:srgbClr val="FF0000"/>
          </a:solidFill>
          <a:ln w="38160">
            <a:solidFill>
              <a:schemeClr val="dk1"/>
            </a:solidFill>
            <a:prstDash val="dash"/>
            <a:round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I am a Software Engineer.</a:t>
            </a:r>
            <a:endParaRPr lang="en-GB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55;p13"/>
          <p:cNvSpPr/>
          <p:nvPr/>
        </p:nvSpPr>
        <p:spPr>
          <a:xfrm rot="20904000">
            <a:off x="1022400" y="1352160"/>
            <a:ext cx="1026360" cy="457560"/>
          </a:xfrm>
          <a:prstGeom prst="rect">
            <a:avLst/>
          </a:prstGeom>
          <a:solidFill>
            <a:srgbClr val="FF990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Comfortaa Light"/>
                <a:ea typeface="Comfortaa Light"/>
              </a:rPr>
              <a:t>Coder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56;p13"/>
          <p:cNvSpPr/>
          <p:nvPr/>
        </p:nvSpPr>
        <p:spPr>
          <a:xfrm rot="20596800">
            <a:off x="6408000" y="3283200"/>
            <a:ext cx="1577520" cy="731880"/>
          </a:xfrm>
          <a:prstGeom prst="rect">
            <a:avLst/>
          </a:prstGeom>
          <a:solidFill>
            <a:srgbClr val="9900F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Problem Solver!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57;p13"/>
          <p:cNvSpPr/>
          <p:nvPr/>
        </p:nvSpPr>
        <p:spPr>
          <a:xfrm rot="1104000">
            <a:off x="896760" y="3345480"/>
            <a:ext cx="1603440" cy="457560"/>
          </a:xfrm>
          <a:prstGeom prst="rect">
            <a:avLst/>
          </a:prstGeom>
          <a:solidFill>
            <a:srgbClr val="38761D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Comfortaa Light"/>
                <a:ea typeface="Comfortaa Light"/>
              </a:rPr>
              <a:t>Developer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58;p13"/>
          <p:cNvSpPr/>
          <p:nvPr/>
        </p:nvSpPr>
        <p:spPr>
          <a:xfrm rot="807600">
            <a:off x="6131880" y="1318320"/>
            <a:ext cx="1882800" cy="457560"/>
          </a:xfrm>
          <a:prstGeom prst="rect">
            <a:avLst/>
          </a:prstGeom>
          <a:solidFill>
            <a:srgbClr val="4A86E8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Comfortaa Light"/>
                <a:ea typeface="Comfortaa Light"/>
              </a:rPr>
              <a:t>Programmer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3690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What do I do everyday?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64;p14" descr="Meme guy | Public domain vectors"/>
          <p:cNvSpPr/>
          <p:nvPr/>
        </p:nvSpPr>
        <p:spPr>
          <a:xfrm>
            <a:off x="2512440" y="1517400"/>
            <a:ext cx="4119120" cy="275256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65;p14"/>
          <p:cNvSpPr/>
          <p:nvPr/>
        </p:nvSpPr>
        <p:spPr>
          <a:xfrm>
            <a:off x="1061640" y="2656440"/>
            <a:ext cx="1064520" cy="66312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Read Code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66;p14"/>
          <p:cNvSpPr/>
          <p:nvPr/>
        </p:nvSpPr>
        <p:spPr>
          <a:xfrm>
            <a:off x="3710520" y="1099080"/>
            <a:ext cx="1277280" cy="66312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Read More Code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67;p14"/>
          <p:cNvSpPr/>
          <p:nvPr/>
        </p:nvSpPr>
        <p:spPr>
          <a:xfrm>
            <a:off x="4075920" y="4069440"/>
            <a:ext cx="1064520" cy="66312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Test Code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68;p14"/>
          <p:cNvSpPr/>
          <p:nvPr/>
        </p:nvSpPr>
        <p:spPr>
          <a:xfrm>
            <a:off x="6768360" y="3132000"/>
            <a:ext cx="1644120" cy="66312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Paired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Programming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69;p14"/>
          <p:cNvSpPr/>
          <p:nvPr/>
        </p:nvSpPr>
        <p:spPr>
          <a:xfrm>
            <a:off x="5441400" y="1099080"/>
            <a:ext cx="1262520" cy="66312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Write New Code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70;p14"/>
          <p:cNvSpPr/>
          <p:nvPr/>
        </p:nvSpPr>
        <p:spPr>
          <a:xfrm>
            <a:off x="1917360" y="930960"/>
            <a:ext cx="1064520" cy="100404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Fix Old / Broken Code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0" name="Google Shape;71;p14"/>
          <p:cNvGrpSpPr/>
          <p:nvPr/>
        </p:nvGrpSpPr>
        <p:grpSpPr>
          <a:xfrm>
            <a:off x="7057800" y="1686600"/>
            <a:ext cx="1262520" cy="806040"/>
            <a:chOff x="7057800" y="1686600"/>
            <a:chExt cx="1262520" cy="806040"/>
          </a:xfrm>
        </p:grpSpPr>
        <p:sp>
          <p:nvSpPr>
            <p:cNvPr id="51" name="Google Shape;72;p14"/>
            <p:cNvSpPr/>
            <p:nvPr/>
          </p:nvSpPr>
          <p:spPr>
            <a:xfrm>
              <a:off x="7057800" y="1829520"/>
              <a:ext cx="1064520" cy="66312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" sz="1400" b="0" u="none" strike="noStrike">
                  <a:solidFill>
                    <a:schemeClr val="dk1"/>
                  </a:solidFill>
                  <a:effectLst/>
                  <a:uFillTx/>
                  <a:latin typeface="Comfortaa"/>
                  <a:ea typeface="Comfortaa"/>
                </a:rPr>
                <a:t>Rubber</a:t>
              </a:r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" sz="1400" b="0" u="none" strike="noStrike">
                  <a:solidFill>
                    <a:schemeClr val="dk1"/>
                  </a:solidFill>
                  <a:effectLst/>
                  <a:uFillTx/>
                  <a:latin typeface="Comfortaa"/>
                  <a:ea typeface="Comfortaa"/>
                </a:rPr>
                <a:t>Duck</a:t>
              </a:r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2" name="Google Shape;73;p14" descr="a yellow rubber duck with an orange beak is sitting on a white surface (Provided by Tenor)"/>
            <p:cNvPicPr/>
            <p:nvPr/>
          </p:nvPicPr>
          <p:blipFill>
            <a:blip r:embed="rId2"/>
            <a:stretch/>
          </p:blipFill>
          <p:spPr>
            <a:xfrm>
              <a:off x="7898040" y="1686600"/>
              <a:ext cx="422280" cy="4222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3" name="Google Shape;74;p14"/>
          <p:cNvSpPr/>
          <p:nvPr/>
        </p:nvSpPr>
        <p:spPr>
          <a:xfrm>
            <a:off x="5681520" y="4069440"/>
            <a:ext cx="1277280" cy="66312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Read Even More Code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4" name="Google Shape;75;p14"/>
          <p:cNvCxnSpPr>
            <a:stCxn id="44" idx="0"/>
            <a:endCxn id="49" idx="1"/>
          </p:cNvCxnSpPr>
          <p:nvPr/>
        </p:nvCxnSpPr>
        <p:spPr>
          <a:xfrm flipH="1" flipV="1" rot="5400000">
            <a:off x="1144080" y="1883160"/>
            <a:ext cx="1223640" cy="323640"/>
          </a:xfrm>
          <a:prstGeom prst="bentConnector2">
            <a:avLst/>
          </a:prstGeom>
          <a:ln w="38100">
            <a:solidFill>
              <a:srgbClr val="FFFFFF"/>
            </a:solidFill>
            <a:round/>
            <a:tailEnd len="med" type="stealth" w="med"/>
          </a:ln>
        </p:spPr>
      </p:cxnSp>
      <p:cxnSp>
        <p:nvCxnSpPr>
          <p:cNvPr id="55" name="Google Shape;76;p14"/>
          <p:cNvCxnSpPr>
            <a:stCxn id="49" idx="3"/>
            <a:endCxn id="45" idx="1"/>
          </p:cNvCxnSpPr>
          <p:nvPr/>
        </p:nvCxnSpPr>
        <p:spPr>
          <a:xfrm flipV="1">
            <a:off x="2981880" y="1430640"/>
            <a:ext cx="729000" cy="2880"/>
          </a:xfrm>
          <a:prstGeom prst="bentConnector3">
            <a:avLst>
              <a:gd name="adj1" fmla="val 50000"/>
            </a:avLst>
          </a:prstGeom>
          <a:ln w="38100">
            <a:solidFill>
              <a:srgbClr val="FFFFFF"/>
            </a:solidFill>
            <a:round/>
            <a:tailEnd len="med" type="stealth" w="med"/>
          </a:ln>
        </p:spPr>
      </p:cxnSp>
      <p:cxnSp>
        <p:nvCxnSpPr>
          <p:cNvPr id="56" name="Google Shape;77;p14"/>
          <p:cNvCxnSpPr>
            <a:stCxn id="45" idx="3"/>
            <a:endCxn id="48" idx="1"/>
          </p:cNvCxnSpPr>
          <p:nvPr/>
        </p:nvCxnSpPr>
        <p:spPr>
          <a:xfrm>
            <a:off x="4987800" y="1430640"/>
            <a:ext cx="453960" cy="360"/>
          </a:xfrm>
          <a:prstGeom prst="bentConnector2">
            <a:avLst/>
          </a:prstGeom>
          <a:ln w="38100">
            <a:solidFill>
              <a:srgbClr val="FFFFFF"/>
            </a:solidFill>
            <a:round/>
            <a:tailEnd len="med" type="stealth" w="med"/>
          </a:ln>
        </p:spPr>
      </p:cxnSp>
      <p:cxnSp>
        <p:nvCxnSpPr>
          <p:cNvPr id="57" name="Google Shape;78;p14"/>
          <p:cNvCxnSpPr>
            <a:stCxn id="48" idx="3"/>
            <a:endCxn id="51" idx="0"/>
          </p:cNvCxnSpPr>
          <p:nvPr/>
        </p:nvCxnSpPr>
        <p:spPr>
          <a:xfrm>
            <a:off x="6703920" y="1430640"/>
            <a:ext cx="886680" cy="399240"/>
          </a:xfrm>
          <a:prstGeom prst="bentConnector2">
            <a:avLst/>
          </a:prstGeom>
          <a:ln w="38100">
            <a:solidFill>
              <a:srgbClr val="FFFFFF"/>
            </a:solidFill>
            <a:round/>
            <a:tailEnd len="med" type="stealth" w="med"/>
          </a:ln>
        </p:spPr>
      </p:cxnSp>
      <p:cxnSp>
        <p:nvCxnSpPr>
          <p:cNvPr id="58" name="Google Shape;79;p14"/>
          <p:cNvCxnSpPr>
            <a:stCxn id="51" idx="2"/>
            <a:endCxn id="47" idx="0"/>
          </p:cNvCxnSpPr>
          <p:nvPr/>
        </p:nvCxnSpPr>
        <p:spPr>
          <a:xfrm flipH="1" rot="16200000">
            <a:off x="7270560" y="2811960"/>
            <a:ext cx="639720" cy="720"/>
          </a:xfrm>
          <a:prstGeom prst="bentConnector3">
            <a:avLst>
              <a:gd name="adj1" fmla="val 50056"/>
            </a:avLst>
          </a:prstGeom>
          <a:ln w="38100">
            <a:solidFill>
              <a:srgbClr val="FFFFFF"/>
            </a:solidFill>
            <a:round/>
            <a:tailEnd len="med" type="stealth" w="med"/>
          </a:ln>
        </p:spPr>
      </p:cxnSp>
      <p:cxnSp>
        <p:nvCxnSpPr>
          <p:cNvPr id="59" name="Google Shape;80;p14"/>
          <p:cNvCxnSpPr>
            <a:stCxn id="47" idx="2"/>
            <a:endCxn id="53" idx="3"/>
          </p:cNvCxnSpPr>
          <p:nvPr/>
        </p:nvCxnSpPr>
        <p:spPr>
          <a:xfrm rot="5400000">
            <a:off x="6971400" y="3782160"/>
            <a:ext cx="606240" cy="632160"/>
          </a:xfrm>
          <a:prstGeom prst="bentConnector2">
            <a:avLst/>
          </a:prstGeom>
          <a:ln w="38100">
            <a:solidFill>
              <a:srgbClr val="FFFFFF"/>
            </a:solidFill>
            <a:round/>
            <a:tailEnd len="med" type="stealth" w="med"/>
          </a:ln>
        </p:spPr>
      </p:cxnSp>
      <p:cxnSp>
        <p:nvCxnSpPr>
          <p:cNvPr id="60" name="Google Shape;81;p14"/>
          <p:cNvCxnSpPr>
            <a:stCxn id="53" idx="1"/>
            <a:endCxn id="46" idx="3"/>
          </p:cNvCxnSpPr>
          <p:nvPr/>
        </p:nvCxnSpPr>
        <p:spPr>
          <a:xfrm rot="10800000">
            <a:off x="5140080" y="4401000"/>
            <a:ext cx="541440" cy="360"/>
          </a:xfrm>
          <a:prstGeom prst="bentConnector2">
            <a:avLst/>
          </a:prstGeom>
          <a:ln w="38100">
            <a:solidFill>
              <a:srgbClr val="FFFFFF"/>
            </a:solidFill>
            <a:round/>
            <a:tailEnd len="med" type="stealth" w="med"/>
          </a:ln>
        </p:spPr>
      </p:cxnSp>
      <p:cxnSp>
        <p:nvCxnSpPr>
          <p:cNvPr id="61" name="Google Shape;82;p14"/>
          <p:cNvCxnSpPr>
            <a:stCxn id="46" idx="1"/>
            <a:endCxn id="62" idx="3"/>
          </p:cNvCxnSpPr>
          <p:nvPr/>
        </p:nvCxnSpPr>
        <p:spPr>
          <a:xfrm flipV="1" rot="10800000">
            <a:off x="3249360" y="4400640"/>
            <a:ext cx="826560" cy="720"/>
          </a:xfrm>
          <a:prstGeom prst="bentConnector3">
            <a:avLst>
              <a:gd name="adj1" fmla="val 49978"/>
            </a:avLst>
          </a:prstGeom>
          <a:ln w="38100">
            <a:solidFill>
              <a:srgbClr val="FFFFFF"/>
            </a:solidFill>
            <a:round/>
            <a:tailEnd len="med" type="stealth" w="med"/>
          </a:ln>
        </p:spPr>
      </p:cxnSp>
      <p:cxnSp>
        <p:nvCxnSpPr>
          <p:cNvPr id="63" name="Google Shape;84;p14"/>
          <p:cNvCxnSpPr>
            <a:stCxn id="62" idx="1"/>
            <a:endCxn id="44" idx="2"/>
          </p:cNvCxnSpPr>
          <p:nvPr/>
        </p:nvCxnSpPr>
        <p:spPr>
          <a:xfrm rot="10800000">
            <a:off x="1594080" y="3319200"/>
            <a:ext cx="591480" cy="1082160"/>
          </a:xfrm>
          <a:prstGeom prst="bentConnector2">
            <a:avLst/>
          </a:prstGeom>
          <a:ln w="38100">
            <a:solidFill>
              <a:srgbClr val="FFFFFF"/>
            </a:solidFill>
            <a:round/>
            <a:tailEnd len="med" type="stealth" w="med"/>
          </a:ln>
        </p:spPr>
      </p:cxnSp>
      <p:sp>
        <p:nvSpPr>
          <p:cNvPr id="64" name="Google Shape;85;p14"/>
          <p:cNvSpPr/>
          <p:nvPr/>
        </p:nvSpPr>
        <p:spPr>
          <a:xfrm>
            <a:off x="453240" y="2433600"/>
            <a:ext cx="1064520" cy="340560"/>
          </a:xfrm>
          <a:prstGeom prst="horizontalScroll">
            <a:avLst>
              <a:gd name="adj" fmla="val 12500"/>
            </a:avLst>
          </a:prstGeom>
          <a:solidFill>
            <a:srgbClr val="38761D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Comfortaa Medium"/>
                <a:ea typeface="Comfortaa Medium"/>
              </a:rPr>
              <a:t>Start here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3;p14"/>
          <p:cNvSpPr/>
          <p:nvPr/>
        </p:nvSpPr>
        <p:spPr>
          <a:xfrm>
            <a:off x="2185200" y="3899160"/>
            <a:ext cx="1064520" cy="100404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Fix code I just wrote.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What do I do every day?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91;p15" descr="Meme guy | Public domain vectors"/>
          <p:cNvSpPr/>
          <p:nvPr/>
        </p:nvSpPr>
        <p:spPr>
          <a:xfrm>
            <a:off x="2512440" y="1517400"/>
            <a:ext cx="4119120" cy="275256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2;p15"/>
          <p:cNvSpPr/>
          <p:nvPr/>
        </p:nvSpPr>
        <p:spPr>
          <a:xfrm>
            <a:off x="3094200" y="4055040"/>
            <a:ext cx="2955600" cy="66312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2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Solve Problems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3;p15"/>
          <p:cNvSpPr/>
          <p:nvPr/>
        </p:nvSpPr>
        <p:spPr>
          <a:xfrm>
            <a:off x="3094200" y="1217160"/>
            <a:ext cx="2955600" cy="66312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2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Ask Questions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00FF00">
                <a:alpha val="80000"/>
              </a:srgbClr>
            </a:outerShdw>
          </a:effectLst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What does code look like?</a:t>
            </a:r>
            <a:endParaRPr lang="en-GB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03;p17"/>
          <p:cNvSpPr/>
          <p:nvPr/>
        </p:nvSpPr>
        <p:spPr>
          <a:xfrm rot="20700000">
            <a:off x="687240" y="1764360"/>
            <a:ext cx="7715160" cy="1614240"/>
          </a:xfrm>
          <a:prstGeom prst="rect">
            <a:avLst/>
          </a:prstGeom>
          <a:solidFill>
            <a:srgbClr val="CC0000"/>
          </a:solidFill>
          <a:ln w="28575">
            <a:solidFill>
              <a:srgbClr val="EEEE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3600" b="1" u="none" strike="noStrike">
                <a:solidFill>
                  <a:schemeClr val="accent2"/>
                </a:solidFill>
                <a:effectLst/>
                <a:uFillTx/>
                <a:latin typeface="Comfortaa"/>
                <a:ea typeface="Comfortaa"/>
              </a:rPr>
              <a:t>Fancy Decision Making</a:t>
            </a:r>
            <a:endParaRPr lang="en-GB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04;p17"/>
          <p:cNvSpPr/>
          <p:nvPr/>
        </p:nvSpPr>
        <p:spPr>
          <a:xfrm rot="20700000">
            <a:off x="3390480" y="2883960"/>
            <a:ext cx="2400840" cy="361800"/>
          </a:xfrm>
          <a:prstGeom prst="bracePair">
            <a:avLst>
              <a:gd name="adj" fmla="val 8333"/>
            </a:avLst>
          </a:prstGeom>
          <a:noFill/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Let’s write some code!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11760" y="272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How I got here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oogle Shape;110;p18"/>
          <p:cNvGrpSpPr/>
          <p:nvPr/>
        </p:nvGrpSpPr>
        <p:grpSpPr>
          <a:xfrm>
            <a:off x="1369080" y="1017720"/>
            <a:ext cx="1891080" cy="1882440"/>
            <a:chOff x="1369080" y="1017720"/>
            <a:chExt cx="1891080" cy="1882440"/>
          </a:xfrm>
        </p:grpSpPr>
        <p:pic>
          <p:nvPicPr>
            <p:cNvPr id="74" name="Google Shape;111;p18" descr="a young boy in a blue shirt is typing on a laptop computer . (Provided by Tenor)"/>
            <p:cNvPicPr/>
            <p:nvPr/>
          </p:nvPicPr>
          <p:blipFill>
            <a:blip r:embed="rId1"/>
            <a:stretch/>
          </p:blipFill>
          <p:spPr>
            <a:xfrm>
              <a:off x="1369080" y="1017720"/>
              <a:ext cx="1891080" cy="1416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5" name="Google Shape;112;p18"/>
            <p:cNvSpPr/>
            <p:nvPr/>
          </p:nvSpPr>
          <p:spPr>
            <a:xfrm>
              <a:off x="1523880" y="2458080"/>
              <a:ext cx="1580760" cy="442080"/>
            </a:xfrm>
            <a:prstGeom prst="bracePair">
              <a:avLst>
                <a:gd name="adj" fmla="val 8333"/>
              </a:avLst>
            </a:prstGeom>
            <a:noFill/>
            <a:ln w="285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" sz="1300" b="0" u="none" strike="noStrike">
                  <a:solidFill>
                    <a:schemeClr val="dk1"/>
                  </a:solidFill>
                  <a:effectLst/>
                  <a:uFillTx/>
                  <a:latin typeface="Comfortaa"/>
                  <a:ea typeface="Comfortaa"/>
                </a:rPr>
                <a:t>Played with computers</a:t>
              </a:r>
              <a:endParaRPr lang="en-GB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oogle Shape;113;p18"/>
          <p:cNvGrpSpPr/>
          <p:nvPr/>
        </p:nvGrpSpPr>
        <p:grpSpPr>
          <a:xfrm>
            <a:off x="3626280" y="1017720"/>
            <a:ext cx="1891080" cy="1882440"/>
            <a:chOff x="3626280" y="1017720"/>
            <a:chExt cx="1891080" cy="1882440"/>
          </a:xfrm>
        </p:grpSpPr>
        <p:pic>
          <p:nvPicPr>
            <p:cNvPr id="77" name="Google Shape;114;p18" descr="Young beautiful woman working in a broadcast control room on a tv station (Provided by Getty Images)"/>
            <p:cNvPicPr/>
            <p:nvPr/>
          </p:nvPicPr>
          <p:blipFill>
            <a:blip r:embed="rId2"/>
            <a:srcRect l="5601" t="0" r="5601" b="0"/>
            <a:stretch/>
          </p:blipFill>
          <p:spPr>
            <a:xfrm>
              <a:off x="3626280" y="1017720"/>
              <a:ext cx="1891080" cy="1416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8" name="Google Shape;115;p18"/>
            <p:cNvSpPr/>
            <p:nvPr/>
          </p:nvSpPr>
          <p:spPr>
            <a:xfrm>
              <a:off x="3781440" y="2458080"/>
              <a:ext cx="1580760" cy="442080"/>
            </a:xfrm>
            <a:prstGeom prst="bracePair">
              <a:avLst>
                <a:gd name="adj" fmla="val 8333"/>
              </a:avLst>
            </a:prstGeom>
            <a:noFill/>
            <a:ln w="285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" sz="1300" b="0" u="none" strike="noStrike">
                  <a:solidFill>
                    <a:schemeClr val="dk1"/>
                  </a:solidFill>
                  <a:effectLst/>
                  <a:uFillTx/>
                  <a:latin typeface="Comfortaa"/>
                  <a:ea typeface="Comfortaa"/>
                </a:rPr>
                <a:t>Had a career in broadcast</a:t>
              </a:r>
              <a:endParaRPr lang="en-GB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9" name="Google Shape;116;p18"/>
          <p:cNvGrpSpPr/>
          <p:nvPr/>
        </p:nvGrpSpPr>
        <p:grpSpPr>
          <a:xfrm>
            <a:off x="5883840" y="1017720"/>
            <a:ext cx="1891080" cy="1882440"/>
            <a:chOff x="5883840" y="1017720"/>
            <a:chExt cx="1891080" cy="1882440"/>
          </a:xfrm>
        </p:grpSpPr>
        <p:pic>
          <p:nvPicPr>
            <p:cNvPr id="80" name="Google Shape;117;p18" descr="a cat is sitting at a table with a laptop and says thank goodness i took that coding course . (Provided by Tenor)"/>
            <p:cNvPicPr/>
            <p:nvPr/>
          </p:nvPicPr>
          <p:blipFill>
            <a:blip r:embed="rId3"/>
            <a:srcRect l="0" t="23824" r="0" b="1275"/>
            <a:stretch/>
          </p:blipFill>
          <p:spPr>
            <a:xfrm>
              <a:off x="5883840" y="1017720"/>
              <a:ext cx="1891080" cy="1416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1" name="Google Shape;118;p18"/>
            <p:cNvSpPr/>
            <p:nvPr/>
          </p:nvSpPr>
          <p:spPr>
            <a:xfrm>
              <a:off x="6038640" y="2458080"/>
              <a:ext cx="1580760" cy="442080"/>
            </a:xfrm>
            <a:prstGeom prst="bracePair">
              <a:avLst>
                <a:gd name="adj" fmla="val 8333"/>
              </a:avLst>
            </a:prstGeom>
            <a:noFill/>
            <a:ln w="285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" sz="1300" b="0" u="none" strike="noStrike">
                  <a:solidFill>
                    <a:schemeClr val="dk1"/>
                  </a:solidFill>
                  <a:effectLst/>
                  <a:uFillTx/>
                  <a:latin typeface="Comfortaa"/>
                  <a:ea typeface="Comfortaa"/>
                </a:rPr>
                <a:t>Coding bootcamp</a:t>
              </a:r>
              <a:endParaRPr lang="en-GB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Google Shape;119;p18"/>
          <p:cNvGrpSpPr/>
          <p:nvPr/>
        </p:nvGrpSpPr>
        <p:grpSpPr>
          <a:xfrm>
            <a:off x="1369080" y="2959200"/>
            <a:ext cx="1891080" cy="1882440"/>
            <a:chOff x="1369080" y="2959200"/>
            <a:chExt cx="1891080" cy="1882440"/>
          </a:xfrm>
        </p:grpSpPr>
        <p:pic>
          <p:nvPicPr>
            <p:cNvPr id="83" name="Google Shape;120;p18" descr="a monkey is sitting in a chair using a laptop computer . (Provided by Tenor)"/>
            <p:cNvPicPr/>
            <p:nvPr/>
          </p:nvPicPr>
          <p:blipFill>
            <a:blip r:embed="rId4"/>
            <a:srcRect l="12448" t="0" r="12448" b="0"/>
            <a:stretch/>
          </p:blipFill>
          <p:spPr>
            <a:xfrm>
              <a:off x="1369080" y="2959200"/>
              <a:ext cx="1891080" cy="1416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4" name="Google Shape;121;p18"/>
            <p:cNvSpPr/>
            <p:nvPr/>
          </p:nvSpPr>
          <p:spPr>
            <a:xfrm>
              <a:off x="1523880" y="4399560"/>
              <a:ext cx="1580760" cy="442080"/>
            </a:xfrm>
            <a:prstGeom prst="bracePair">
              <a:avLst>
                <a:gd name="adj" fmla="val 8333"/>
              </a:avLst>
            </a:prstGeom>
            <a:noFill/>
            <a:ln w="285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" sz="1300" b="0" u="none" strike="noStrike">
                  <a:solidFill>
                    <a:schemeClr val="dk1"/>
                  </a:solidFill>
                  <a:effectLst/>
                  <a:uFillTx/>
                  <a:latin typeface="Comfortaa"/>
                  <a:ea typeface="Comfortaa"/>
                </a:rPr>
                <a:t>Made stuff</a:t>
              </a:r>
              <a:endParaRPr lang="en-GB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" name="Google Shape;122;p18"/>
          <p:cNvGrpSpPr/>
          <p:nvPr/>
        </p:nvGrpSpPr>
        <p:grpSpPr>
          <a:xfrm>
            <a:off x="3626280" y="2959200"/>
            <a:ext cx="1891080" cy="1882440"/>
            <a:chOff x="3626280" y="2959200"/>
            <a:chExt cx="1891080" cy="1882440"/>
          </a:xfrm>
        </p:grpSpPr>
        <p:pic>
          <p:nvPicPr>
            <p:cNvPr id="86" name="Google Shape;123;p18" descr="Video call business people meeting on virtual workplace or remote office (Provided by Getty Images)"/>
            <p:cNvPicPr/>
            <p:nvPr/>
          </p:nvPicPr>
          <p:blipFill>
            <a:blip r:embed="rId5"/>
            <a:srcRect l="5507" t="0" r="5507" b="0"/>
            <a:stretch/>
          </p:blipFill>
          <p:spPr>
            <a:xfrm>
              <a:off x="3626280" y="2959200"/>
              <a:ext cx="1891080" cy="1416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7" name="Google Shape;124;p18"/>
            <p:cNvSpPr/>
            <p:nvPr/>
          </p:nvSpPr>
          <p:spPr>
            <a:xfrm>
              <a:off x="3781440" y="4399560"/>
              <a:ext cx="1581120" cy="442080"/>
            </a:xfrm>
            <a:prstGeom prst="bracePair">
              <a:avLst>
                <a:gd name="adj" fmla="val 8333"/>
              </a:avLst>
            </a:prstGeom>
            <a:noFill/>
            <a:ln w="285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" sz="1300" b="0" u="none" strike="noStrike">
                  <a:solidFill>
                    <a:schemeClr val="dk1"/>
                  </a:solidFill>
                  <a:effectLst/>
                  <a:uFillTx/>
                  <a:latin typeface="Comfortaa"/>
                  <a:ea typeface="Comfortaa"/>
                </a:rPr>
                <a:t>Interview and technical test</a:t>
              </a:r>
              <a:endParaRPr lang="en-GB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" name="Google Shape;125;p18"/>
          <p:cNvGrpSpPr/>
          <p:nvPr/>
        </p:nvGrpSpPr>
        <p:grpSpPr>
          <a:xfrm>
            <a:off x="5883840" y="2959200"/>
            <a:ext cx="1891080" cy="1882440"/>
            <a:chOff x="5883840" y="2959200"/>
            <a:chExt cx="1891080" cy="1882440"/>
          </a:xfrm>
        </p:grpSpPr>
        <p:pic>
          <p:nvPicPr>
            <p:cNvPr id="89" name="Google Shape;126;p18" descr="Meme guy | Public domain vectors"/>
            <p:cNvPicPr/>
            <p:nvPr/>
          </p:nvPicPr>
          <p:blipFill>
            <a:blip r:embed="rId6"/>
            <a:srcRect l="17628" t="0" r="5193" b="0"/>
            <a:stretch/>
          </p:blipFill>
          <p:spPr>
            <a:xfrm>
              <a:off x="5883840" y="2959200"/>
              <a:ext cx="1891080" cy="1416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" name="Google Shape;127;p18"/>
            <p:cNvSpPr/>
            <p:nvPr/>
          </p:nvSpPr>
          <p:spPr>
            <a:xfrm>
              <a:off x="6038640" y="4399560"/>
              <a:ext cx="1581120" cy="442080"/>
            </a:xfrm>
            <a:prstGeom prst="bracePair">
              <a:avLst>
                <a:gd name="adj" fmla="val 8333"/>
              </a:avLst>
            </a:prstGeom>
            <a:noFill/>
            <a:ln w="285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" sz="1300" b="0" u="none" strike="noStrike">
                  <a:solidFill>
                    <a:schemeClr val="dk1"/>
                  </a:solidFill>
                  <a:effectLst/>
                  <a:uFillTx/>
                  <a:latin typeface="Comfortaa"/>
                  <a:ea typeface="Comfortaa"/>
                </a:rPr>
                <a:t>Keep learning and practicing</a:t>
              </a:r>
              <a:endParaRPr lang="en-GB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32;p19"/>
          <p:cNvSpPr/>
          <p:nvPr/>
        </p:nvSpPr>
        <p:spPr>
          <a:xfrm>
            <a:off x="408960" y="355320"/>
            <a:ext cx="4048920" cy="443232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What you need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A love of problem solving.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A willingness to read and learn.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Teamwork and communication.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33;p19"/>
          <p:cNvSpPr/>
          <p:nvPr/>
        </p:nvSpPr>
        <p:spPr>
          <a:xfrm>
            <a:off x="4685760" y="355320"/>
            <a:ext cx="4048920" cy="443232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What you don’t need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A degree*.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To know everything.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To be neurotypical.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An office to work in.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*</a:t>
            </a:r>
            <a:r>
              <a:rPr lang="en" sz="900" b="0" i="1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It depends.</a:t>
            </a:r>
            <a:endParaRPr lang="en-GB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" dur="indefinite" restart="never" nodeType="tmRoot">
          <p:childTnLst>
            <p:seq>
              <p:cTn id="60" dur="indefinite" nodeType="mainSeq">
                <p:childTnLst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u="none" strike="noStrike">
                <a:solidFill>
                  <a:schemeClr val="dk1"/>
                </a:solidFill>
                <a:effectLst/>
                <a:uFillTx/>
                <a:latin typeface="Comfortaa"/>
                <a:ea typeface="Comfortaa"/>
              </a:rPr>
              <a:t>Interested?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39;p20"/>
          <p:cNvSpPr/>
          <p:nvPr/>
        </p:nvSpPr>
        <p:spPr>
          <a:xfrm>
            <a:off x="2664360" y="1811520"/>
            <a:ext cx="3814920" cy="15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Comfortaa Medium"/>
                <a:ea typeface="Comfortaa Medium"/>
              </a:rPr>
              <a:t>Learn stuff.</a:t>
            </a: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Comfortaa Medium"/>
                <a:ea typeface="Comfortaa Medium"/>
              </a:rPr>
              <a:t>Make stuff.</a:t>
            </a: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Comfortaa Medium"/>
                <a:ea typeface="Comfortaa Medium"/>
              </a:rPr>
              <a:t>Break stuff.</a:t>
            </a: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Comfortaa Medium"/>
                <a:ea typeface="Comfortaa Medium"/>
              </a:rPr>
              <a:t>Fix stuff.</a:t>
            </a: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Comfortaa Medium"/>
                <a:ea typeface="Comfortaa Medium"/>
              </a:rPr>
              <a:t>Now ask me stuff.</a:t>
            </a: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dcterms:modified xsi:type="dcterms:W3CDTF">2026-07-07T21:08:02Z</dcterms:modified>
  <cp:revision>2</cp:revision>
  <dc:subject/>
  <dc:title/>
</cp:coreProperties>
</file>